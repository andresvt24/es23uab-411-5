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11"/>
  </p:notesMasterIdLst>
  <p:sldIdLst>
    <p:sldId id="412" r:id="rId5"/>
    <p:sldId id="400" r:id="rId6"/>
    <p:sldId id="408" r:id="rId7"/>
    <p:sldId id="414" r:id="rId8"/>
    <p:sldId id="411" r:id="rId9"/>
    <p:sldId id="399" r:id="rId10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D9D9D9"/>
    <a:srgbClr val="FEF8BE"/>
    <a:srgbClr val="B8CCE4"/>
    <a:srgbClr val="7693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EC950F-B629-DEAC-7E3C-D7F12202C450}" v="40" dt="2026-05-03T19:46:05.269"/>
    <p1510:client id="{32C350C7-CE3F-47B1-B68D-4C840FD5142E}" v="14" dt="2026-05-03T14:04:28.550"/>
    <p1510:client id="{E517E677-62D7-9476-B65C-3BD4C1BB3E03}" v="24" dt="2026-05-03T20:50:48.472"/>
    <p1510:client id="{E7D974BA-FCFA-A251-3045-0711F662F8E8}" v="1" dt="2026-05-03T20:42:58.9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25" d="100"/>
          <a:sy n="125" d="100"/>
        </p:scale>
        <p:origin x="-333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https://uab-my.sharepoint.com/personal/1750028_uab_cat/Documents/Plantilla_Burndownchart%201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xMode val="edge"/>
          <c:yMode val="edge"/>
          <c:x val="8.6426644099394115E-2"/>
          <c:y val="1.5826328670941449E-2"/>
          <c:w val="0.89643939951431306"/>
          <c:h val="0.87541658272987455"/>
        </c:manualLayout>
      </c:layout>
      <c:lineChart>
        <c:grouping val="standard"/>
        <c:varyColors val="1"/>
        <c:ser>
          <c:idx val="0"/>
          <c:order val="0"/>
          <c:tx>
            <c:v>GOAL VELOCITY</c:v>
          </c:tx>
          <c:spPr>
            <a:ln w="38100" cmpd="sng">
              <a:solidFill>
                <a:srgbClr val="FFAC01">
                  <a:alpha val="100000"/>
                </a:srgbClr>
              </a:solidFill>
            </a:ln>
          </c:spPr>
          <c:marker>
            <c:symbol val="none"/>
          </c:marker>
          <c:val>
            <c:numRef>
              <c:f>'BLANK - Simple Burndown Chart'!$E$6:$E$12</c:f>
              <c:numCache>
                <c:formatCode>General</c:formatCode>
                <c:ptCount val="7"/>
                <c:pt idx="0">
                  <c:v>12</c:v>
                </c:pt>
                <c:pt idx="1">
                  <c:v>10</c:v>
                </c:pt>
                <c:pt idx="2">
                  <c:v>8</c:v>
                </c:pt>
                <c:pt idx="3">
                  <c:v>6</c:v>
                </c:pt>
                <c:pt idx="4">
                  <c:v>4</c:v>
                </c:pt>
                <c:pt idx="5">
                  <c:v>2</c:v>
                </c:pt>
                <c:pt idx="6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99A-48AB-8051-2201CC713D32}"/>
            </c:ext>
          </c:extLst>
        </c:ser>
        <c:ser>
          <c:idx val="1"/>
          <c:order val="1"/>
          <c:tx>
            <c:v>REMAINING</c:v>
          </c:tx>
          <c:spPr>
            <a:ln w="38100" cmpd="sng">
              <a:solidFill>
                <a:srgbClr val="C14CD9">
                  <a:alpha val="100000"/>
                </a:srgbClr>
              </a:solidFill>
            </a:ln>
          </c:spPr>
          <c:marker>
            <c:symbol val="none"/>
          </c:marker>
          <c:val>
            <c:numRef>
              <c:f>'BLANK - Simple Burndown Chart'!$F$6:$F$12</c:f>
              <c:numCache>
                <c:formatCode>General</c:formatCode>
                <c:ptCount val="7"/>
                <c:pt idx="0">
                  <c:v>12</c:v>
                </c:pt>
                <c:pt idx="1">
                  <c:v>12</c:v>
                </c:pt>
                <c:pt idx="2">
                  <c:v>10.5</c:v>
                </c:pt>
                <c:pt idx="3">
                  <c:v>8.5</c:v>
                </c:pt>
                <c:pt idx="4">
                  <c:v>5.5</c:v>
                </c:pt>
                <c:pt idx="5">
                  <c:v>3.5</c:v>
                </c:pt>
                <c:pt idx="6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99A-48AB-8051-2201CC713D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725496515"/>
        <c:axId val="348616111"/>
      </c:lineChart>
      <c:catAx>
        <c:axId val="1725496515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 lvl="0">
                  <a:defRPr b="0">
                    <a:solidFill>
                      <a:srgbClr val="000000"/>
                    </a:solidFill>
                    <a:latin typeface="+mn-lt"/>
                  </a:defRPr>
                </a:pPr>
                <a:endParaRPr lang="ca-ES"/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txPr>
          <a:bodyPr/>
          <a:lstStyle/>
          <a:p>
            <a:pPr lvl="0">
              <a:defRPr b="1" i="0">
                <a:solidFill>
                  <a:srgbClr val="000000"/>
                </a:solidFill>
                <a:latin typeface="+mn-lt"/>
              </a:defRPr>
            </a:pPr>
            <a:endParaRPr lang="ca-ES"/>
          </a:p>
        </c:txPr>
        <c:crossAx val="348616111"/>
        <c:crosses val="autoZero"/>
        <c:auto val="1"/>
        <c:lblAlgn val="ctr"/>
        <c:lblOffset val="100"/>
        <c:noMultiLvlLbl val="1"/>
      </c:catAx>
      <c:valAx>
        <c:axId val="348616111"/>
        <c:scaling>
          <c:orientation val="minMax"/>
        </c:scaling>
        <c:delete val="0"/>
        <c:axPos val="l"/>
        <c:majorGridlines>
          <c:spPr>
            <a:ln>
              <a:solidFill>
                <a:srgbClr val="B7B7B7"/>
              </a:solidFill>
            </a:ln>
          </c:spPr>
        </c:majorGridlines>
        <c:title>
          <c:tx>
            <c:rich>
              <a:bodyPr/>
              <a:lstStyle/>
              <a:p>
                <a:pPr lvl="0">
                  <a:defRPr b="0">
                    <a:solidFill>
                      <a:srgbClr val="000000"/>
                    </a:solidFill>
                    <a:latin typeface="+mn-lt"/>
                  </a:defRPr>
                </a:pPr>
                <a:endParaRPr lang="ca-ES"/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/>
        </c:spPr>
        <c:txPr>
          <a:bodyPr/>
          <a:lstStyle/>
          <a:p>
            <a:pPr lvl="0">
              <a:defRPr b="1" i="0">
                <a:solidFill>
                  <a:srgbClr val="000000"/>
                </a:solidFill>
                <a:latin typeface="+mn-lt"/>
              </a:defRPr>
            </a:pPr>
            <a:endParaRPr lang="ca-ES"/>
          </a:p>
        </c:txPr>
        <c:crossAx val="1725496515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0.17352872557596968"/>
          <c:y val="0.9435860470542784"/>
        </c:manualLayout>
      </c:layout>
      <c:overlay val="0"/>
      <c:txPr>
        <a:bodyPr/>
        <a:lstStyle/>
        <a:p>
          <a:pPr lvl="0">
            <a:defRPr sz="1500" b="1" i="0">
              <a:solidFill>
                <a:srgbClr val="1A1A1A"/>
              </a:solidFill>
              <a:latin typeface="+mn-lt"/>
            </a:defRPr>
          </a:pPr>
          <a:endParaRPr lang="ca-ES"/>
        </a:p>
      </c:txPr>
    </c:legend>
    <c:plotVisOnly val="1"/>
    <c:dispBlanksAs val="zero"/>
    <c:showDLblsOverMax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9ECDAD-75E1-4BC4-AB86-9BA5DFF857B3}" type="datetimeFigureOut">
              <a:rPr lang="en-GB" smtClean="0"/>
              <a:t>07/05/2026</a:t>
            </a:fld>
            <a:endParaRPr lang="en-GB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AA5E4-F832-4E78-BDC0-6CAA09567E07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5486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31DCF8F9-FE1E-467E-9B82-0FEB758F2FA6}" type="datetime1">
              <a:rPr lang="en-US" smtClean="0"/>
              <a:t>5/7/2026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0959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6219CF75-0ECC-4E76-B636-3ABF46261502}" type="datetime1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978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4E8BD-E6E8-42B0-9E1C-58D2F9C64A0C}" type="datetime1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333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D7AFBA47-0BC8-4C75-9B10-88B9F496CCB1}" type="datetime1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323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84512E72-AC33-43BA-BEE9-4FD4948C58D8}" type="datetime1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817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76718-59A8-49B1-AEC5-3662572A144D}" type="datetime1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945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EC767-5C82-4733-81D6-0B6B22CAF0EE}" type="datetime1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545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E4D41E06-6C86-4754-846D-56519DFF1F50}" type="datetime1">
              <a:rPr lang="en-US" smtClean="0"/>
              <a:t>5/7/2026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660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6D8A39B2-B176-40DF-B22F-280C511548AF}" type="datetime1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420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AE393-D011-4B55-A9B6-0BBC79EF96B0}" type="datetime1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955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D0C2F-F497-4247-8BB2-5746400D850B}" type="datetime1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891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BAA1BC-C245-4537-A704-02F8919D151B}" type="datetime1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580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45CF02-92BA-5A94-2DEC-47F61A7CF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4481272-C222-8968-044D-3BAF0970A7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02A8D1-3358-F5F1-4AF0-5F9969CD736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08" r="-1" b="-1"/>
          <a:stretch/>
        </p:blipFill>
        <p:spPr>
          <a:xfrm>
            <a:off x="20" y="10"/>
            <a:ext cx="8668492" cy="6857990"/>
          </a:xfrm>
          <a:prstGeom prst="rect">
            <a:avLst/>
          </a:prstGeom>
        </p:spPr>
      </p:pic>
      <p:sp>
        <p:nvSpPr>
          <p:cNvPr id="87" name="Rectangle 10">
            <a:extLst>
              <a:ext uri="{FF2B5EF4-FFF2-40B4-BE49-F238E27FC236}">
                <a16:creationId xmlns:a16="http://schemas.microsoft.com/office/drawing/2014/main" id="{3CA4E186-A056-DACA-6812-E5F007704A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711652" y="0"/>
            <a:ext cx="8480347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0318A6B-6752-F618-4EF4-1D267178CE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8600" y="1122363"/>
            <a:ext cx="4023360" cy="3204134"/>
          </a:xfrm>
        </p:spPr>
        <p:txBody>
          <a:bodyPr anchor="b">
            <a:normAutofit/>
          </a:bodyPr>
          <a:lstStyle/>
          <a:p>
            <a:r>
              <a:rPr lang="ca-ES" sz="4800"/>
              <a:t>Enginyeria del Software</a:t>
            </a:r>
          </a:p>
        </p:txBody>
      </p:sp>
      <p:sp>
        <p:nvSpPr>
          <p:cNvPr id="88" name="Rectangle 12">
            <a:extLst>
              <a:ext uri="{FF2B5EF4-FFF2-40B4-BE49-F238E27FC236}">
                <a16:creationId xmlns:a16="http://schemas.microsoft.com/office/drawing/2014/main" id="{EE755042-3AA6-3825-AEC6-571898FD7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D429D88-9361-BCC7-DCE3-D5D1408F43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solidFill>
              <a:schemeClr val="tx2">
                <a:lumMod val="25000"/>
                <a:lumOff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8F60D0DC-CA51-7547-B234-C04A874F0855}"/>
              </a:ext>
            </a:extLst>
          </p:cNvPr>
          <p:cNvSpPr txBox="1">
            <a:spLocks/>
          </p:cNvSpPr>
          <p:nvPr/>
        </p:nvSpPr>
        <p:spPr>
          <a:xfrm>
            <a:off x="7848600" y="4872922"/>
            <a:ext cx="4023360" cy="13593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ca-ES" sz="1400" dirty="0"/>
              <a:t>Pràctiques: Grup 411-5</a:t>
            </a:r>
          </a:p>
          <a:p>
            <a:pPr>
              <a:lnSpc>
                <a:spcPct val="100000"/>
              </a:lnSpc>
            </a:pPr>
            <a:endParaRPr lang="ca-ES" sz="1400" dirty="0"/>
          </a:p>
          <a:p>
            <a:pPr>
              <a:lnSpc>
                <a:spcPct val="100000"/>
              </a:lnSpc>
            </a:pPr>
            <a:r>
              <a:rPr lang="ca-ES" sz="1400" dirty="0" err="1"/>
              <a:t>Sprint</a:t>
            </a:r>
            <a:r>
              <a:rPr lang="ca-ES" sz="1400" dirty="0"/>
              <a:t> 02: Diagrama Casos d’Ús</a:t>
            </a:r>
          </a:p>
        </p:txBody>
      </p:sp>
    </p:spTree>
    <p:extLst>
      <p:ext uri="{BB962C8B-B14F-4D97-AF65-F5344CB8AC3E}">
        <p14:creationId xmlns:p14="http://schemas.microsoft.com/office/powerpoint/2010/main" val="751733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EF9086-B6B4-D19E-C791-6006CEAD6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Composició de l’equip</a:t>
            </a:r>
            <a:r>
              <a:rPr lang="en-GB" dirty="0"/>
              <a:t>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F9A3A06-2104-6EDD-EE3F-A32528BEC881}"/>
              </a:ext>
            </a:extLst>
          </p:cNvPr>
          <p:cNvSpPr txBox="1"/>
          <p:nvPr/>
        </p:nvSpPr>
        <p:spPr>
          <a:xfrm>
            <a:off x="3865698" y="3615973"/>
            <a:ext cx="2319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Erik Andres Villca</a:t>
            </a:r>
            <a:endParaRPr lang="ca-ES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701D67B-2047-7EEE-CB49-B2ED590A3D18}"/>
              </a:ext>
            </a:extLst>
          </p:cNvPr>
          <p:cNvSpPr txBox="1"/>
          <p:nvPr/>
        </p:nvSpPr>
        <p:spPr>
          <a:xfrm>
            <a:off x="6487244" y="3615973"/>
            <a:ext cx="23191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Eloy Rota Vilchez</a:t>
            </a:r>
          </a:p>
          <a:p>
            <a:endParaRPr lang="es-ES" dirty="0"/>
          </a:p>
          <a:p>
            <a:endParaRPr lang="ca-ES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F9E5503-CA01-C76E-286A-F65FDF48A279}"/>
              </a:ext>
            </a:extLst>
          </p:cNvPr>
          <p:cNvSpPr txBox="1"/>
          <p:nvPr/>
        </p:nvSpPr>
        <p:spPr>
          <a:xfrm>
            <a:off x="3865698" y="5776078"/>
            <a:ext cx="2319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Jennifer D. Martínez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FC6393E-84E8-F829-72B0-A2837607CCD5}"/>
              </a:ext>
            </a:extLst>
          </p:cNvPr>
          <p:cNvSpPr txBox="1"/>
          <p:nvPr/>
        </p:nvSpPr>
        <p:spPr>
          <a:xfrm>
            <a:off x="6487244" y="5776078"/>
            <a:ext cx="2319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Chenyu Weng</a:t>
            </a: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5C3A89F8-A065-A1FA-DC46-2463F757239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34456" y="3468624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D69F5AC-EDA7-69E8-AEB5-37E35C7312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133" t="31970" r="31867" b="29867"/>
          <a:stretch>
            <a:fillRect/>
          </a:stretch>
        </p:blipFill>
        <p:spPr>
          <a:xfrm>
            <a:off x="4248307" y="2063803"/>
            <a:ext cx="1303541" cy="1434979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28B8C31E-3067-A51A-7FD2-BCAB6A7679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9397" y="4232075"/>
            <a:ext cx="1531414" cy="1407575"/>
          </a:xfrm>
          <a:prstGeom prst="rect">
            <a:avLst/>
          </a:prstGeom>
        </p:spPr>
      </p:pic>
      <p:pic>
        <p:nvPicPr>
          <p:cNvPr id="4" name="Imagen 3" descr="Archivo:Default-Icon.jpg">
            <a:extLst>
              <a:ext uri="{FF2B5EF4-FFF2-40B4-BE49-F238E27FC236}">
                <a16:creationId xmlns:a16="http://schemas.microsoft.com/office/drawing/2014/main" id="{7FA18F22-836D-84CE-51FB-D447B22E9A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3794" y="2067063"/>
            <a:ext cx="1173371" cy="1542223"/>
          </a:xfrm>
          <a:prstGeom prst="rect">
            <a:avLst/>
          </a:prstGeom>
        </p:spPr>
      </p:pic>
      <p:pic>
        <p:nvPicPr>
          <p:cNvPr id="6" name="Imagen 5" descr="Archivo:Default-Icon.jpg">
            <a:extLst>
              <a:ext uri="{FF2B5EF4-FFF2-40B4-BE49-F238E27FC236}">
                <a16:creationId xmlns:a16="http://schemas.microsoft.com/office/drawing/2014/main" id="{FCBE22D3-C73A-8710-92EF-DFFC07A4A4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1098" y="4099063"/>
            <a:ext cx="1173371" cy="1542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967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FB19B-BC83-28E3-C34F-E477B71C3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6D4BA1-5AB7-B8D9-63F4-F71B31D5F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Tasques fetes al sprint</a:t>
            </a:r>
            <a:endParaRPr lang="en-GB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29DCC4B-20F9-8EAA-9C5D-D85FD1DD2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3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C9F3BC3-64C6-DCA9-A993-43956FF851B7}"/>
              </a:ext>
            </a:extLst>
          </p:cNvPr>
          <p:cNvSpPr txBox="1"/>
          <p:nvPr/>
        </p:nvSpPr>
        <p:spPr>
          <a:xfrm>
            <a:off x="428603" y="2198728"/>
            <a:ext cx="1002082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a-ES" dirty="0"/>
              <a:t>Tasca 1: Diagrama Casos d’Ús perfil Usuari General(encarregat: </a:t>
            </a:r>
            <a:r>
              <a:rPr lang="es-ES" dirty="0"/>
              <a:t>Eloy Rota Vilchez</a:t>
            </a:r>
            <a:r>
              <a:rPr lang="ca-ES" dirty="0"/>
              <a:t>)</a:t>
            </a:r>
          </a:p>
          <a:p>
            <a:pPr algn="just"/>
            <a:endParaRPr lang="ca-ES" dirty="0"/>
          </a:p>
          <a:p>
            <a:pPr algn="just"/>
            <a:r>
              <a:rPr lang="ca-ES" dirty="0"/>
              <a:t>Tasca 2: Diagrama Casos d’Ús perfil Client(encarregat: </a:t>
            </a:r>
            <a:r>
              <a:rPr lang="es-ES" dirty="0"/>
              <a:t>Jennifer D. Martínez</a:t>
            </a:r>
            <a:r>
              <a:rPr lang="ca-ES" dirty="0"/>
              <a:t>)</a:t>
            </a:r>
          </a:p>
          <a:p>
            <a:pPr algn="just"/>
            <a:endParaRPr lang="ca-ES" dirty="0"/>
          </a:p>
          <a:p>
            <a:pPr algn="just"/>
            <a:r>
              <a:rPr lang="ca-ES" dirty="0"/>
              <a:t>Tasca 3: Diagrama Casos d’Ús perfil Cuiner(encarregat: </a:t>
            </a:r>
            <a:r>
              <a:rPr lang="es-ES" dirty="0"/>
              <a:t>Eloy Rota Vilchez</a:t>
            </a:r>
            <a:r>
              <a:rPr lang="ca-ES" dirty="0"/>
              <a:t>)</a:t>
            </a:r>
          </a:p>
          <a:p>
            <a:pPr algn="just"/>
            <a:endParaRPr lang="ca-ES" dirty="0"/>
          </a:p>
          <a:p>
            <a:pPr algn="just"/>
            <a:r>
              <a:rPr lang="ca-ES" dirty="0"/>
              <a:t>Tasca 4: Diagrama Casos d’Ús perfil Repartidor(encarregat: Erik Andres Villca)</a:t>
            </a:r>
          </a:p>
          <a:p>
            <a:pPr algn="just"/>
            <a:endParaRPr lang="ca-ES" dirty="0"/>
          </a:p>
          <a:p>
            <a:pPr algn="just"/>
            <a:r>
              <a:rPr lang="ca-ES" dirty="0"/>
              <a:t>Tasca 5: Creació del </a:t>
            </a:r>
            <a:r>
              <a:rPr lang="ca-ES" dirty="0" err="1"/>
              <a:t>Burn</a:t>
            </a:r>
            <a:r>
              <a:rPr lang="ca-ES" dirty="0"/>
              <a:t>-Down Chart(encarregat: </a:t>
            </a:r>
            <a:r>
              <a:rPr lang="es-ES" dirty="0"/>
              <a:t>Jennifer D. Martínez</a:t>
            </a:r>
            <a:r>
              <a:rPr lang="ca-ES" dirty="0"/>
              <a:t>)</a:t>
            </a:r>
          </a:p>
          <a:p>
            <a:pPr algn="just"/>
            <a:endParaRPr lang="ca-ES" dirty="0"/>
          </a:p>
          <a:p>
            <a:pPr algn="just"/>
            <a:r>
              <a:rPr lang="ca-ES" dirty="0"/>
              <a:t>Tasca 6: Revisió dels diagrames(encarregat: Tots)</a:t>
            </a:r>
          </a:p>
          <a:p>
            <a:pPr algn="just"/>
            <a:endParaRPr lang="ca-ES" dirty="0"/>
          </a:p>
          <a:p>
            <a:pPr algn="just"/>
            <a:r>
              <a:rPr lang="ca-ES" dirty="0"/>
              <a:t>Tasca 7: Creació del document SRS(encarregat: </a:t>
            </a:r>
            <a:r>
              <a:rPr lang="ca-ES" dirty="0" err="1"/>
              <a:t>Chenyu</a:t>
            </a:r>
            <a:r>
              <a:rPr lang="ca-ES" dirty="0"/>
              <a:t> </a:t>
            </a:r>
            <a:r>
              <a:rPr lang="ca-ES" dirty="0" err="1"/>
              <a:t>Weng</a:t>
            </a:r>
            <a:r>
              <a:rPr lang="ca-ES" dirty="0"/>
              <a:t>)</a:t>
            </a:r>
          </a:p>
          <a:p>
            <a:pPr algn="just"/>
            <a:endParaRPr lang="ca-ES" dirty="0"/>
          </a:p>
          <a:p>
            <a:pPr algn="just"/>
            <a:r>
              <a:rPr lang="ca-ES" dirty="0"/>
              <a:t>Tasca 8: Actualitzar GitHub(encarregat: Erik Andres Villca)</a:t>
            </a:r>
          </a:p>
          <a:p>
            <a:pPr algn="just"/>
            <a:endParaRPr lang="ca-ES" dirty="0"/>
          </a:p>
        </p:txBody>
      </p:sp>
    </p:spTree>
    <p:extLst>
      <p:ext uri="{BB962C8B-B14F-4D97-AF65-F5344CB8AC3E}">
        <p14:creationId xmlns:p14="http://schemas.microsoft.com/office/powerpoint/2010/main" val="3516385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C1432F-F76B-FA1A-60C4-570BC919E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8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10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3" name="Rectangle 12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Freeform: Shape 14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5" name="Freeform: Shape 16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7D6179E-F510-EFB1-506A-6CC1E9CDF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Casos d’Ús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Imagen 2" descr="Diagrama&#10;&#10;El contenido generado por IA puede ser incorrecto.">
            <a:extLst>
              <a:ext uri="{FF2B5EF4-FFF2-40B4-BE49-F238E27FC236}">
                <a16:creationId xmlns:a16="http://schemas.microsoft.com/office/drawing/2014/main" id="{83C5F944-DEC9-46D0-D8D9-AA84971D5D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1528" y="250208"/>
            <a:ext cx="5978404" cy="6349900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D111615-F26B-4050-8DA5-71730ADD1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47810" y="6356350"/>
            <a:ext cx="150598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2DC25EE-239B-4C5F-AAD1-255A7D5F1EE2}" type="slidenum">
              <a:rPr lang="en-US">
                <a:solidFill>
                  <a:schemeClr val="tx2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4</a:t>
            </a:fld>
            <a:endParaRPr lang="en-US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2619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D38EA2-7393-3EEA-342C-2A0E49400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Freeform: Shape 14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5" name="Freeform: Shape 16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994DF30-96E6-D413-77EB-9C52FFF97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Burn-down chart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324E472-EEEA-047A-652F-39B76DADE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47810" y="6356350"/>
            <a:ext cx="150598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2DC25EE-239B-4C5F-AAD1-255A7D5F1EE2}" type="slidenum">
              <a:rPr lang="en-US">
                <a:solidFill>
                  <a:schemeClr val="tx2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5</a:t>
            </a:fld>
            <a:endParaRPr lang="en-US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7" name="Chart 2" descr="Chart 0">
            <a:extLst>
              <a:ext uri="{FF2B5EF4-FFF2-40B4-BE49-F238E27FC236}">
                <a16:creationId xmlns:a16="http://schemas.microsoft.com/office/drawing/2014/main" id="{00000000-0008-0000-01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82728671"/>
              </p:ext>
            </p:extLst>
          </p:nvPr>
        </p:nvGraphicFramePr>
        <p:xfrm>
          <a:off x="5141874" y="434665"/>
          <a:ext cx="5243861" cy="59231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20859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CCA5F87-1D1E-45CB-8D83-FC7EEFAD99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6D8F7F-EDDF-0F27-C5DE-363EDF2D88B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08" r="-1" b="-1"/>
          <a:stretch/>
        </p:blipFill>
        <p:spPr>
          <a:xfrm>
            <a:off x="20" y="10"/>
            <a:ext cx="8668492" cy="6857990"/>
          </a:xfrm>
          <a:prstGeom prst="rect">
            <a:avLst/>
          </a:prstGeom>
        </p:spPr>
      </p:pic>
      <p:sp>
        <p:nvSpPr>
          <p:cNvPr id="87" name="Rectangle 10">
            <a:extLst>
              <a:ext uri="{FF2B5EF4-FFF2-40B4-BE49-F238E27FC236}">
                <a16:creationId xmlns:a16="http://schemas.microsoft.com/office/drawing/2014/main" id="{7CCFC2C6-6238-4A2F-93DE-2ADF74AF6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711652" y="0"/>
            <a:ext cx="8480347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2F091E7-7144-0D59-2350-8918455260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8600" y="1122363"/>
            <a:ext cx="4023360" cy="3204134"/>
          </a:xfrm>
        </p:spPr>
        <p:txBody>
          <a:bodyPr anchor="b">
            <a:normAutofit/>
          </a:bodyPr>
          <a:lstStyle/>
          <a:p>
            <a:r>
              <a:rPr lang="ca-ES" sz="4800"/>
              <a:t>Enginyeria del Software</a:t>
            </a:r>
          </a:p>
        </p:txBody>
      </p:sp>
      <p:sp>
        <p:nvSpPr>
          <p:cNvPr id="88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solidFill>
              <a:schemeClr val="tx2">
                <a:lumMod val="25000"/>
                <a:lumOff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4B6A5C40-8DF0-BEC4-6D4B-21A930E89326}"/>
              </a:ext>
            </a:extLst>
          </p:cNvPr>
          <p:cNvSpPr txBox="1">
            <a:spLocks/>
          </p:cNvSpPr>
          <p:nvPr/>
        </p:nvSpPr>
        <p:spPr>
          <a:xfrm>
            <a:off x="7848600" y="4872922"/>
            <a:ext cx="4023360" cy="13593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ca-ES" sz="1400" dirty="0"/>
              <a:t>Pràctiques: Grup 411-5</a:t>
            </a:r>
          </a:p>
          <a:p>
            <a:pPr>
              <a:lnSpc>
                <a:spcPct val="100000"/>
              </a:lnSpc>
            </a:pPr>
            <a:endParaRPr lang="ca-ES" sz="1400" dirty="0"/>
          </a:p>
          <a:p>
            <a:pPr>
              <a:lnSpc>
                <a:spcPct val="100000"/>
              </a:lnSpc>
            </a:pPr>
            <a:r>
              <a:rPr lang="ca-ES" sz="1400" dirty="0" err="1"/>
              <a:t>Sprint</a:t>
            </a:r>
            <a:r>
              <a:rPr lang="ca-ES" sz="1400" dirty="0"/>
              <a:t> 02: Diagrama Casos d’Ús</a:t>
            </a:r>
          </a:p>
        </p:txBody>
      </p:sp>
    </p:spTree>
    <p:extLst>
      <p:ext uri="{BB962C8B-B14F-4D97-AF65-F5344CB8AC3E}">
        <p14:creationId xmlns:p14="http://schemas.microsoft.com/office/powerpoint/2010/main" val="792603657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nalogousFromRegularSeedRightStep">
      <a:dk1>
        <a:srgbClr val="000000"/>
      </a:dk1>
      <a:lt1>
        <a:srgbClr val="FFFFFF"/>
      </a:lt1>
      <a:dk2>
        <a:srgbClr val="412426"/>
      </a:dk2>
      <a:lt2>
        <a:srgbClr val="E2E8E8"/>
      </a:lt2>
      <a:accent1>
        <a:srgbClr val="C34D54"/>
      </a:accent1>
      <a:accent2>
        <a:srgbClr val="B1643B"/>
      </a:accent2>
      <a:accent3>
        <a:srgbClr val="BBA149"/>
      </a:accent3>
      <a:accent4>
        <a:srgbClr val="98AD39"/>
      </a:accent4>
      <a:accent5>
        <a:srgbClr val="72B346"/>
      </a:accent5>
      <a:accent6>
        <a:srgbClr val="3BB13D"/>
      </a:accent6>
      <a:hlink>
        <a:srgbClr val="30928B"/>
      </a:hlink>
      <a:folHlink>
        <a:srgbClr val="7F7F7F"/>
      </a:folHlink>
    </a:clrScheme>
    <a:fontScheme name="Avenir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2DCE3FE76873C43B4285687C17A7E08" ma:contentTypeVersion="10" ma:contentTypeDescription="Crear nuevo documento." ma:contentTypeScope="" ma:versionID="c076f5225479be130ea1a8c7ea941239">
  <xsd:schema xmlns:xsd="http://www.w3.org/2001/XMLSchema" xmlns:xs="http://www.w3.org/2001/XMLSchema" xmlns:p="http://schemas.microsoft.com/office/2006/metadata/properties" xmlns:ns3="877093f4-30fb-4bf8-acd9-a0f957f1070d" targetNamespace="http://schemas.microsoft.com/office/2006/metadata/properties" ma:root="true" ma:fieldsID="eda9f15d7ad6cd504e91494e3d190b94" ns3:_="">
    <xsd:import namespace="877093f4-30fb-4bf8-acd9-a0f957f1070d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7093f4-30fb-4bf8-acd9-a0f957f1070d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77093f4-30fb-4bf8-acd9-a0f957f1070d" xsi:nil="true"/>
  </documentManagement>
</p:properties>
</file>

<file path=customXml/itemProps1.xml><?xml version="1.0" encoding="utf-8"?>
<ds:datastoreItem xmlns:ds="http://schemas.openxmlformats.org/officeDocument/2006/customXml" ds:itemID="{04171512-FDE1-4E49-B7EA-58AD2B33372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3C32CC2-E5F1-420E-B7EC-D49ED5434D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77093f4-30fb-4bf8-acd9-a0f957f1070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FBF3923-D9E5-4962-BBB8-690B0ABC4F42}">
  <ds:schemaRefs>
    <ds:schemaRef ds:uri="http://purl.org/dc/elements/1.1/"/>
    <ds:schemaRef ds:uri="http://schemas.microsoft.com/office/2006/documentManagement/types"/>
    <ds:schemaRef ds:uri="http://www.w3.org/XML/1998/namespace"/>
    <ds:schemaRef ds:uri="http://purl.org/dc/dcmitype/"/>
    <ds:schemaRef ds:uri="http://schemas.openxmlformats.org/package/2006/metadata/core-properties"/>
    <ds:schemaRef ds:uri="http://purl.org/dc/terms/"/>
    <ds:schemaRef ds:uri="http://schemas.microsoft.com/office/2006/metadata/properties"/>
    <ds:schemaRef ds:uri="http://schemas.microsoft.com/office/infopath/2007/PartnerControls"/>
    <ds:schemaRef ds:uri="877093f4-30fb-4bf8-acd9-a0f957f1070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7882</TotalTime>
  <Words>165</Words>
  <Application>Microsoft Office PowerPoint</Application>
  <PresentationFormat>Panorámica</PresentationFormat>
  <Paragraphs>34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Calibri</vt:lpstr>
      <vt:lpstr>Neue Haas Grotesk Text Pro</vt:lpstr>
      <vt:lpstr>AccentBoxVTI</vt:lpstr>
      <vt:lpstr>Enginyeria del Software</vt:lpstr>
      <vt:lpstr>Composició de l’equip </vt:lpstr>
      <vt:lpstr>Tasques fetes al sprint</vt:lpstr>
      <vt:lpstr>Casos d’Ús</vt:lpstr>
      <vt:lpstr>Burn-down chart</vt:lpstr>
      <vt:lpstr>Enginyeria del Software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Enginyeria del Software</dc:title>
  <dc:creator>Jorge Bernal del Nozal</dc:creator>
  <cp:lastModifiedBy>Erik Andres Villca Tunari</cp:lastModifiedBy>
  <cp:revision>107</cp:revision>
  <dcterms:created xsi:type="dcterms:W3CDTF">2023-02-10T08:32:17Z</dcterms:created>
  <dcterms:modified xsi:type="dcterms:W3CDTF">2026-05-07T07:09:46Z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0x01010042DCE3FE76873C43B4285687C17A7E08</vt:lpwstr>
  </property>
  <property fmtid="{D5CDD505-2E9C-101B-9397-08002B2CF9AE}" pid="3" name="Order">
    <vt:r8>1700</vt:r8>
  </property>
  <property fmtid="{D5CDD505-2E9C-101B-9397-08002B2CF9AE}" pid="4" name="_ExtendedDescription">
    <vt:lpwstr/>
  </property>
  <property fmtid="{D5CDD505-2E9C-101B-9397-08002B2CF9AE}" pid="5" name="TriggerFlowInfo">
    <vt:lpwstr/>
  </property>
  <property fmtid="{D5CDD505-2E9C-101B-9397-08002B2CF9AE}" pid="6" name="ComplianceAssetId">
    <vt:lpwstr/>
  </property>
</Properties>
</file>