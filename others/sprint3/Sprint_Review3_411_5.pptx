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32"/>
  </p:notesMasterIdLst>
  <p:sldIdLst>
    <p:sldId id="412" r:id="rId5"/>
    <p:sldId id="400" r:id="rId6"/>
    <p:sldId id="408" r:id="rId7"/>
    <p:sldId id="434" r:id="rId8"/>
    <p:sldId id="429" r:id="rId9"/>
    <p:sldId id="435" r:id="rId10"/>
    <p:sldId id="417" r:id="rId11"/>
    <p:sldId id="414" r:id="rId12"/>
    <p:sldId id="437" r:id="rId13"/>
    <p:sldId id="431" r:id="rId14"/>
    <p:sldId id="432" r:id="rId15"/>
    <p:sldId id="433" r:id="rId16"/>
    <p:sldId id="436" r:id="rId17"/>
    <p:sldId id="411" r:id="rId18"/>
    <p:sldId id="415" r:id="rId19"/>
    <p:sldId id="416" r:id="rId20"/>
    <p:sldId id="418" r:id="rId21"/>
    <p:sldId id="421" r:id="rId22"/>
    <p:sldId id="419" r:id="rId23"/>
    <p:sldId id="420" r:id="rId24"/>
    <p:sldId id="422" r:id="rId25"/>
    <p:sldId id="423" r:id="rId26"/>
    <p:sldId id="424" r:id="rId27"/>
    <p:sldId id="426" r:id="rId28"/>
    <p:sldId id="427" r:id="rId29"/>
    <p:sldId id="428" r:id="rId30"/>
    <p:sldId id="399" r:id="rId3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DB20D4-13C0-FF54-61FB-778ED2D03204}" v="8" dt="2026-05-30T22:44:04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uab-my.sharepoint.com/personal/1750028_uab_cat/Documents/Plantilla_Burndownchart%20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a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8.6426644099394115E-2"/>
          <c:y val="1.5826328670941449E-2"/>
          <c:w val="0.89643939951431306"/>
          <c:h val="0.87541658272987455"/>
        </c:manualLayout>
      </c:layout>
      <c:lineChart>
        <c:grouping val="standard"/>
        <c:varyColors val="1"/>
        <c:ser>
          <c:idx val="0"/>
          <c:order val="0"/>
          <c:tx>
            <c:v>GOAL VELOCITY</c:v>
          </c:tx>
          <c:spPr>
            <a:ln w="38100" cmpd="sng">
              <a:solidFill>
                <a:srgbClr val="FFAC01">
                  <a:alpha val="100000"/>
                </a:srgbClr>
              </a:solidFill>
            </a:ln>
          </c:spPr>
          <c:marker>
            <c:symbol val="none"/>
          </c:marker>
          <c:val>
            <c:numRef>
              <c:f>'BLANK - Simple Burndown Chart'!$E$6:$E$12</c:f>
              <c:numCache>
                <c:formatCode>General</c:formatCode>
                <c:ptCount val="7"/>
                <c:pt idx="0">
                  <c:v>14</c:v>
                </c:pt>
                <c:pt idx="1">
                  <c:v>11.75</c:v>
                </c:pt>
                <c:pt idx="2">
                  <c:v>9.5</c:v>
                </c:pt>
                <c:pt idx="3">
                  <c:v>7.25</c:v>
                </c:pt>
                <c:pt idx="4">
                  <c:v>5</c:v>
                </c:pt>
                <c:pt idx="5">
                  <c:v>3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26-453F-8097-B3920BD80680}"/>
            </c:ext>
          </c:extLst>
        </c:ser>
        <c:ser>
          <c:idx val="1"/>
          <c:order val="1"/>
          <c:tx>
            <c:v>REMAINING</c:v>
          </c:tx>
          <c:spPr>
            <a:ln w="38100" cmpd="sng">
              <a:solidFill>
                <a:srgbClr val="C14CD9">
                  <a:alpha val="100000"/>
                </a:srgbClr>
              </a:solidFill>
            </a:ln>
          </c:spPr>
          <c:marker>
            <c:symbol val="none"/>
          </c:marker>
          <c:val>
            <c:numRef>
              <c:f>'BLANK - Simple Burndown Chart'!$F$6:$F$12</c:f>
              <c:numCache>
                <c:formatCode>General</c:formatCode>
                <c:ptCount val="7"/>
                <c:pt idx="0">
                  <c:v>14</c:v>
                </c:pt>
                <c:pt idx="1">
                  <c:v>14</c:v>
                </c:pt>
                <c:pt idx="2">
                  <c:v>12</c:v>
                </c:pt>
                <c:pt idx="3">
                  <c:v>9.5</c:v>
                </c:pt>
                <c:pt idx="4">
                  <c:v>7.5</c:v>
                </c:pt>
                <c:pt idx="5">
                  <c:v>4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A26-453F-8097-B3920BD806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25496515"/>
        <c:axId val="348616111"/>
      </c:lineChart>
      <c:catAx>
        <c:axId val="1725496515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 lvl="0">
                  <a:defRPr b="0">
                    <a:solidFill>
                      <a:srgbClr val="000000"/>
                    </a:solidFill>
                    <a:latin typeface="+mn-lt"/>
                  </a:defRPr>
                </a:pPr>
                <a:endParaRPr lang="ca-E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 lvl="0">
              <a:defRPr b="1" i="0">
                <a:solidFill>
                  <a:srgbClr val="000000"/>
                </a:solidFill>
                <a:latin typeface="+mn-lt"/>
              </a:defRPr>
            </a:pPr>
            <a:endParaRPr lang="ca-ES"/>
          </a:p>
        </c:txPr>
        <c:crossAx val="348616111"/>
        <c:crosses val="autoZero"/>
        <c:auto val="1"/>
        <c:lblAlgn val="ctr"/>
        <c:lblOffset val="100"/>
        <c:noMultiLvlLbl val="1"/>
      </c:catAx>
      <c:valAx>
        <c:axId val="348616111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 lvl="0">
                  <a:defRPr b="0">
                    <a:solidFill>
                      <a:srgbClr val="000000"/>
                    </a:solidFill>
                    <a:latin typeface="+mn-lt"/>
                  </a:defRPr>
                </a:pPr>
                <a:endParaRPr lang="ca-E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/>
        </c:spPr>
        <c:txPr>
          <a:bodyPr/>
          <a:lstStyle/>
          <a:p>
            <a:pPr lvl="0">
              <a:defRPr b="1" i="0">
                <a:solidFill>
                  <a:srgbClr val="000000"/>
                </a:solidFill>
                <a:latin typeface="+mn-lt"/>
              </a:defRPr>
            </a:pPr>
            <a:endParaRPr lang="ca-ES"/>
          </a:p>
        </c:txPr>
        <c:crossAx val="1725496515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7352872557596968"/>
          <c:y val="0.9435860470542784"/>
        </c:manualLayout>
      </c:layout>
      <c:overlay val="0"/>
      <c:txPr>
        <a:bodyPr/>
        <a:lstStyle/>
        <a:p>
          <a:pPr lvl="0">
            <a:defRPr sz="1500" b="1" i="0">
              <a:solidFill>
                <a:srgbClr val="1A1A1A"/>
              </a:solidFill>
              <a:latin typeface="+mn-lt"/>
            </a:defRPr>
          </a:pPr>
          <a:endParaRPr lang="ca-E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72046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/>
              <a:t>Pràctiques: Grup 411-05</a:t>
            </a:r>
          </a:p>
          <a:p>
            <a:pPr>
              <a:lnSpc>
                <a:spcPct val="100000"/>
              </a:lnSpc>
            </a:pPr>
            <a:endParaRPr lang="ca-ES" sz="1400"/>
          </a:p>
          <a:p>
            <a:pPr>
              <a:lnSpc>
                <a:spcPct val="100000"/>
              </a:lnSpc>
            </a:pPr>
            <a:r>
              <a:rPr lang="ca-ES" sz="1400"/>
              <a:t>Sprint 03: Especificacions i Diagrama de Classes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Composició de l’equip</a:t>
            </a:r>
            <a:r>
              <a:rPr lang="en-GB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E44A2714-7224-8333-A43B-ECBC3C175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305" y="2312505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1155324" y="3638956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Chenyu Weng</a:t>
            </a:r>
            <a:endParaRPr lang="ca-ES"/>
          </a:p>
        </p:txBody>
      </p:sp>
      <p:pic>
        <p:nvPicPr>
          <p:cNvPr id="8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76D0DF31-D861-FFEE-2974-6C02DD69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851" y="2312505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701D67B-2047-7EEE-CB49-B2ED590A3D18}"/>
              </a:ext>
            </a:extLst>
          </p:cNvPr>
          <p:cNvSpPr txBox="1"/>
          <p:nvPr/>
        </p:nvSpPr>
        <p:spPr>
          <a:xfrm>
            <a:off x="3776870" y="3638956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Erik Andrés Vilca</a:t>
            </a:r>
          </a:p>
        </p:txBody>
      </p:sp>
      <p:pic>
        <p:nvPicPr>
          <p:cNvPr id="10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C58F73A0-EF49-A7B1-C627-75778E026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305" y="4472610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F9E5503-CA01-C76E-286A-F65FDF48A279}"/>
              </a:ext>
            </a:extLst>
          </p:cNvPr>
          <p:cNvSpPr txBox="1"/>
          <p:nvPr/>
        </p:nvSpPr>
        <p:spPr>
          <a:xfrm>
            <a:off x="1155324" y="5799061"/>
            <a:ext cx="23191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Jennifer D. Martínez </a:t>
            </a:r>
          </a:p>
          <a:p>
            <a:r>
              <a:rPr lang="es-ES"/>
              <a:t>(Scrum Master)</a:t>
            </a:r>
          </a:p>
        </p:txBody>
      </p:sp>
      <p:pic>
        <p:nvPicPr>
          <p:cNvPr id="12" name="Picture 2" descr="Profile Pictures, The Selfie Precursor Thebenclark, 47% OFF">
            <a:extLst>
              <a:ext uri="{FF2B5EF4-FFF2-40B4-BE49-F238E27FC236}">
                <a16:creationId xmlns:a16="http://schemas.microsoft.com/office/drawing/2014/main" id="{B5B950BB-3356-08FA-D3B8-D5AB267A1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851" y="4472610"/>
            <a:ext cx="1209260" cy="120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FC6393E-84E8-F829-72B0-A2837607CCD5}"/>
              </a:ext>
            </a:extLst>
          </p:cNvPr>
          <p:cNvSpPr txBox="1"/>
          <p:nvPr/>
        </p:nvSpPr>
        <p:spPr>
          <a:xfrm>
            <a:off x="3776870" y="5799061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Eloy Rota</a:t>
            </a:r>
            <a:endParaRPr lang="ca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5D8E7C1-F3A1-9FFE-E007-5F434203772E}"/>
              </a:ext>
            </a:extLst>
          </p:cNvPr>
          <p:cNvSpPr txBox="1"/>
          <p:nvPr/>
        </p:nvSpPr>
        <p:spPr>
          <a:xfrm>
            <a:off x="6612835" y="3167270"/>
            <a:ext cx="430033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ca-ES"/>
              <a:t>En aquest Sprint la Jennifer ha fet de Scrum Master</a:t>
            </a:r>
          </a:p>
        </p:txBody>
      </p:sp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Tasques fetes al sprint</a:t>
            </a:r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9F3BC3-64C6-DCA9-A993-43956FF851B7}"/>
              </a:ext>
            </a:extLst>
          </p:cNvPr>
          <p:cNvSpPr txBox="1"/>
          <p:nvPr/>
        </p:nvSpPr>
        <p:spPr>
          <a:xfrm>
            <a:off x="428603" y="2198728"/>
            <a:ext cx="10020823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ca-ES"/>
              <a:t>Tasca 1: Especificacions i diagrama Cuiner (encarregat: Eloy)</a:t>
            </a:r>
          </a:p>
          <a:p>
            <a:pPr algn="just"/>
            <a:endParaRPr lang="ca-ES"/>
          </a:p>
          <a:p>
            <a:pPr algn="just"/>
            <a:r>
              <a:rPr lang="ca-ES"/>
              <a:t>Tasca 2: Especificacions i diagrama Client (encarregada: Jennifer)</a:t>
            </a:r>
          </a:p>
          <a:p>
            <a:pPr algn="just"/>
            <a:endParaRPr lang="ca-ES"/>
          </a:p>
          <a:p>
            <a:pPr algn="just"/>
            <a:r>
              <a:rPr lang="ca-ES"/>
              <a:t>Tasca 3: Especificacions i diagrama Repartidor (encarregat: Erik)</a:t>
            </a:r>
          </a:p>
          <a:p>
            <a:pPr algn="just"/>
            <a:endParaRPr lang="ca-ES"/>
          </a:p>
          <a:p>
            <a:pPr algn="just"/>
            <a:r>
              <a:rPr lang="ca-ES"/>
              <a:t>Tasca 4: Especificacions i diagrama Usuari (encarregat: Eloy)</a:t>
            </a:r>
          </a:p>
          <a:p>
            <a:pPr algn="just"/>
            <a:endParaRPr lang="ca-ES"/>
          </a:p>
          <a:p>
            <a:pPr algn="just"/>
            <a:r>
              <a:rPr lang="ca-ES"/>
              <a:t>Tasca 5: Especificacions i diagrama Usuari no registrat (encarregat: Chenyu)</a:t>
            </a:r>
          </a:p>
          <a:p>
            <a:pPr algn="just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4A089-E7B9-196A-FF87-475567263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41595-F047-9AF1-69F7-59F436CA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Trello y GitHub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B0D38E-D681-DA44-9FEC-0E6EFCC9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/>
          </a:p>
        </p:txBody>
      </p:sp>
      <p:pic>
        <p:nvPicPr>
          <p:cNvPr id="3" name="Imatge 2" descr="Imatge que conté text, captura de pantalla, Software de multimèdia, programari&#10;&#10;Pot ser que el contingut generat per IA no sigui correcte.">
            <a:extLst>
              <a:ext uri="{FF2B5EF4-FFF2-40B4-BE49-F238E27FC236}">
                <a16:creationId xmlns:a16="http://schemas.microsoft.com/office/drawing/2014/main" id="{4E425595-E292-2AF7-7592-8A8E57B1E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585" y="1955755"/>
            <a:ext cx="8346831" cy="3567813"/>
          </a:xfrm>
          <a:prstGeom prst="rect">
            <a:avLst/>
          </a:prstGeom>
        </p:spPr>
      </p:pic>
      <p:sp>
        <p:nvSpPr>
          <p:cNvPr id="5" name="QuadreDeText 4">
            <a:extLst>
              <a:ext uri="{FF2B5EF4-FFF2-40B4-BE49-F238E27FC236}">
                <a16:creationId xmlns:a16="http://schemas.microsoft.com/office/drawing/2014/main" id="{BAF7264E-9305-F619-1F68-558C2C90C726}"/>
              </a:ext>
            </a:extLst>
          </p:cNvPr>
          <p:cNvSpPr txBox="1"/>
          <p:nvPr/>
        </p:nvSpPr>
        <p:spPr>
          <a:xfrm>
            <a:off x="1435749" y="5773871"/>
            <a:ext cx="62370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a-ES"/>
              <a:t>GitHub: </a:t>
            </a:r>
            <a:r>
              <a:rPr lang="ca-ES">
                <a:ea typeface="+mn-lt"/>
                <a:cs typeface="+mn-lt"/>
              </a:rPr>
              <a:t>https://github.com/AndresVT24/ES23UAB-411-5</a:t>
            </a:r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13711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814E6801-67C1-18B5-B9B2-0954127C8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sz="4000"/>
              <a:t>Diagrama Cas d’Ús final</a:t>
            </a:r>
            <a:endParaRPr lang="ca-ES"/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1BE7E480-BA06-A3D5-504E-8ADB417A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/>
          </a:p>
        </p:txBody>
      </p:sp>
      <p:pic>
        <p:nvPicPr>
          <p:cNvPr id="9" name="Contenidor de contingut 8" descr="Imatge que conté text, esbós, diagrama, dibuix&#10;&#10;Pot ser que el contingut generat per IA no sigui correcte.">
            <a:extLst>
              <a:ext uri="{FF2B5EF4-FFF2-40B4-BE49-F238E27FC236}">
                <a16:creationId xmlns:a16="http://schemas.microsoft.com/office/drawing/2014/main" id="{4629E0E7-1FE5-1550-F55A-D9659C14C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1980" y="436449"/>
            <a:ext cx="5503722" cy="574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21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8ADA027C-2A66-975C-4589-5CAAFB30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Usuari no registrat</a:t>
            </a:r>
          </a:p>
        </p:txBody>
      </p:sp>
      <p:pic>
        <p:nvPicPr>
          <p:cNvPr id="5" name="Contenidor de contingut 4" descr="Imatge que conté text, captura de pantalla, Font, nombre&#10;&#10;Pot ser que el contingut generat per IA no sigui correcte.">
            <a:extLst>
              <a:ext uri="{FF2B5EF4-FFF2-40B4-BE49-F238E27FC236}">
                <a16:creationId xmlns:a16="http://schemas.microsoft.com/office/drawing/2014/main" id="{5A90528F-8C3B-6DE5-2AC6-8C69EE431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2830" y="2091805"/>
            <a:ext cx="5675279" cy="4445737"/>
          </a:xfrm>
          <a:prstGeom prst="rect">
            <a:avLst/>
          </a:prstGeom>
        </p:spPr>
      </p:pic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C6686EC0-8EF8-5EFF-B720-3B0DA334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4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40E5E-E98A-10D2-D469-9FF1F158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73955-C129-62AC-8A30-A54154C6F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Cuiner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803F1C-789E-2B28-A3CE-25A2FC11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E2E0D81-F076-8821-16A1-9EF7C7510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073921"/>
              </p:ext>
            </p:extLst>
          </p:nvPr>
        </p:nvGraphicFramePr>
        <p:xfrm>
          <a:off x="2100387" y="3092015"/>
          <a:ext cx="7922524" cy="32631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Publicar plat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Eloy Rota Vilchez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Aquest cas d’ús descriu el procés pel qual un cuiner posa a disponibilitat dels clients un plat que ell prepararà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Cuiner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050">
                          <a:effectLst/>
                          <a:latin typeface="Neue Haas Grotesk Text Pro"/>
                          <a:ea typeface="Times New Roman" panose="02020603050405020304" pitchFamily="18" charset="0"/>
                        </a:rPr>
                        <a:t>Iniciar sessió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selecciona la opció de "Nou plat"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introdueix tota la informació del plat (descripció, ingredients, alèrgens, imatges etc.)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te la opció de "Publicar plat"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plat passa a estar disponible perquè els clients en puguin realitzar comanda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100" u="sng">
                          <a:effectLst/>
                        </a:rPr>
                        <a:t>El cuiner no selecciona "Publicar plat"</a:t>
                      </a:r>
                    </a:p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La informació introduïda del plat fins el moment es perd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693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>
            <a:extLst>
              <a:ext uri="{FF2B5EF4-FFF2-40B4-BE49-F238E27FC236}">
                <a16:creationId xmlns:a16="http://schemas.microsoft.com/office/drawing/2014/main" id="{97CDE9EB-C902-C38E-B852-27E59414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653" y="777897"/>
            <a:ext cx="6518126" cy="49016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err="1"/>
              <a:t>Especificacions</a:t>
            </a:r>
            <a:r>
              <a:rPr lang="en-US" sz="4800"/>
              <a:t>: Client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tge 4" descr="Imatge que conté text, captura de pantalla, nombre, Font&#10;&#10;Pot ser que el contingut generat per IA no sigui correcte.">
            <a:extLst>
              <a:ext uri="{FF2B5EF4-FFF2-40B4-BE49-F238E27FC236}">
                <a16:creationId xmlns:a16="http://schemas.microsoft.com/office/drawing/2014/main" id="{11B117B3-AC3E-E03E-9482-A6B1B40E7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457" y="1717843"/>
            <a:ext cx="6846363" cy="4210511"/>
          </a:xfrm>
          <a:prstGeom prst="rect">
            <a:avLst/>
          </a:prstGeom>
        </p:spPr>
      </p:pic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82F31A15-4B58-08AA-BECA-A2118178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20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A788-8418-6BC8-BA42-64ED5C4D8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F8B37-461D-F685-F4A3-33E28499B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Repartidor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74A05E-5A67-5B76-9569-83E24A75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FBEA266-B604-6109-2D66-F957380261D8}"/>
              </a:ext>
            </a:extLst>
          </p:cNvPr>
          <p:cNvGraphicFramePr>
            <a:graphicFrameLocks noGrp="1"/>
          </p:cNvGraphicFramePr>
          <p:nvPr/>
        </p:nvGraphicFramePr>
        <p:xfrm>
          <a:off x="2136841" y="2422515"/>
          <a:ext cx="7922524" cy="39038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Entrega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17/05/2025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Erik Villca Tunari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4505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El repartidor realitza el procés d'entrega d'una comanda assignada.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Repartidor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050">
                          <a:effectLst/>
                          <a:latin typeface="Neue Haas Grotesk Text Pro"/>
                          <a:ea typeface="Times New Roman" panose="02020603050405020304" pitchFamily="18" charset="0"/>
                        </a:rPr>
                        <a:t>El repartidor ha d'haver acceptat una entrega i la comanda ha d'estar preparada o en procés de recollir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38022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consulta les dades de l'entrega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recull la comanda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permet fer el seguiment de la ubicació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porta la comanda al client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confirma l'entrega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Seguiment de Ubicació. Actualitzar estat de l'enviament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lang="ca-ES" sz="1100" u="sng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000">
                          <a:effectLst/>
                          <a:latin typeface="Neue Haas Grotesk Text Pro"/>
                          <a:ea typeface="Times New Roman" panose="02020603050405020304" pitchFamily="18" charset="0"/>
                          <a:cs typeface="Times New Roman"/>
                        </a:rPr>
                        <a:t>La comanda queda marcada com a entregada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Al moment de registrar-se ja se li hauria de presentar directament al usuari la opció de crear-se un dels tres perfils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612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E5B9C-B005-7261-D435-AF3AF931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172C3A57-837A-833C-E80F-5F891935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sz="4000"/>
              <a:t>Diagrama de clases:</a:t>
            </a:r>
            <a:br>
              <a:rPr lang="ca-ES" sz="4000"/>
            </a:br>
            <a:r>
              <a:rPr lang="ca-ES" sz="4000"/>
              <a:t>Usuari</a:t>
            </a:r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FEC89FEF-491C-C469-968C-0AF0CE54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/>
          </a:p>
        </p:txBody>
      </p:sp>
      <p:pic>
        <p:nvPicPr>
          <p:cNvPr id="7" name="Contenidor de contingut 6" descr="Imatge que conté text, captura de pantalla, diagrama, línia&#10;&#10;Pot ser que el contingut generat per IA no sigui correcte.">
            <a:extLst>
              <a:ext uri="{FF2B5EF4-FFF2-40B4-BE49-F238E27FC236}">
                <a16:creationId xmlns:a16="http://schemas.microsoft.com/office/drawing/2014/main" id="{F06037C8-0E22-644A-0D5C-C3D52C806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9815" y="1325721"/>
            <a:ext cx="6797065" cy="384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98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56A99-13DE-55A7-CE88-0688D12B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E7B6DF02-B39D-4CD9-7123-ACC2AD83F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sz="4000"/>
              <a:t>Diagrama de clases:</a:t>
            </a:r>
            <a:br>
              <a:rPr lang="ca-ES" sz="4000"/>
            </a:br>
            <a:r>
              <a:rPr lang="ca-ES" sz="4000"/>
              <a:t>Cuiner</a:t>
            </a:r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65AA4561-186A-C4AE-4B0A-221ADE3F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/>
          </a:p>
        </p:txBody>
      </p:sp>
      <p:pic>
        <p:nvPicPr>
          <p:cNvPr id="6" name="Contenidor de contingut 5" descr="Imatge que conté text, diagrama, captura de pantalla, línia&#10;&#10;Pot ser que el contingut generat per IA no sigui correcte.">
            <a:extLst>
              <a:ext uri="{FF2B5EF4-FFF2-40B4-BE49-F238E27FC236}">
                <a16:creationId xmlns:a16="http://schemas.microsoft.com/office/drawing/2014/main" id="{9DFAEDB8-F01E-9C32-4956-7D258B483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7706" y="908188"/>
            <a:ext cx="5878490" cy="420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196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0DE8B2E3-94EF-02FB-E77B-74313558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Diagrama de classes:</a:t>
            </a:r>
            <a:br>
              <a:rPr lang="ca-ES"/>
            </a:br>
            <a:r>
              <a:rPr lang="ca-ES"/>
              <a:t>Client</a:t>
            </a:r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A2B11346-0978-5316-B9D0-2C7B8F85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12</a:t>
            </a:fld>
            <a:endParaRPr lang="en-US"/>
          </a:p>
        </p:txBody>
      </p:sp>
      <p:pic>
        <p:nvPicPr>
          <p:cNvPr id="9" name="Contenidor de contingut 8" descr="Imatge que conté text, diagrama, Pla, línia&#10;&#10;Pot ser que el contingut generat per IA no sigui correcte.">
            <a:extLst>
              <a:ext uri="{FF2B5EF4-FFF2-40B4-BE49-F238E27FC236}">
                <a16:creationId xmlns:a16="http://schemas.microsoft.com/office/drawing/2014/main" id="{DBD18749-A799-750B-27B4-D5CFF3B9F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3423" y="1198449"/>
            <a:ext cx="6374151" cy="446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52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F4C29-A6B3-28C8-3D24-C71C2AEC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37BF26EE-B8FC-3C01-F449-B5E53ED5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Diagrama de classes:</a:t>
            </a:r>
            <a:br>
              <a:rPr lang="ca-ES"/>
            </a:br>
            <a:r>
              <a:rPr lang="ca-ES"/>
              <a:t>Repartidor</a:t>
            </a:r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9A79C364-D0C1-CA97-A894-EBD10E4A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13</a:t>
            </a:fld>
            <a:endParaRPr lang="en-US"/>
          </a:p>
        </p:txBody>
      </p:sp>
      <p:pic>
        <p:nvPicPr>
          <p:cNvPr id="6" name="Contenidor de contingut 5" descr="Imatge que conté text, diagrama, captura de pantalla, línia&#10;&#10;Pot ser que el contingut generat per IA no sigui correcte.">
            <a:extLst>
              <a:ext uri="{FF2B5EF4-FFF2-40B4-BE49-F238E27FC236}">
                <a16:creationId xmlns:a16="http://schemas.microsoft.com/office/drawing/2014/main" id="{D6C5C428-D33E-703E-2B6D-CC468B411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0125" y="818974"/>
            <a:ext cx="5007070" cy="489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41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err="1"/>
              <a:t>Burn-down</a:t>
            </a:r>
            <a:r>
              <a:rPr lang="ca-ES"/>
              <a:t> </a:t>
            </a:r>
            <a:r>
              <a:rPr lang="ca-ES" err="1"/>
              <a:t>chart</a:t>
            </a:r>
            <a:endParaRPr lang="ca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3" name="Chart 2" descr="Chart 0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0845290"/>
              </p:ext>
            </p:extLst>
          </p:nvPr>
        </p:nvGraphicFramePr>
        <p:xfrm>
          <a:off x="5448532" y="304567"/>
          <a:ext cx="5829300" cy="624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5F75F-4F08-8950-49C2-36F3F821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47B42-6EA2-0A00-6C0A-D8EBEACD3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Cuiner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CAAF56-8ABC-6262-20E3-5B2CEB02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FC778FF-8448-CDE0-AED7-BBA21514B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883287"/>
              </p:ext>
            </p:extLst>
          </p:nvPr>
        </p:nvGraphicFramePr>
        <p:xfrm>
          <a:off x="2100387" y="3102453"/>
          <a:ext cx="7922524" cy="32631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Indicar horari disponibilitat 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Eloy Rota Vilchez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Aquest cas d’ús descriu com el cuiner pot indicar en el seu perfil quines son les hores a les que pot tenir preparades les seves comandes per a una entrega.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Cuiner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Font typeface="+mj-lt"/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accedeix a l'apartat de "Horari i disponibilitat" del seu perfil</a:t>
                      </a:r>
                      <a:endParaRPr lang="ca-ES" sz="1000">
                        <a:effectLst/>
                      </a:endParaRPr>
                    </a:p>
                    <a:p>
                      <a:pPr marL="342900" lvl="0" indent="-342900" algn="just">
                        <a:buFont typeface="+mj-lt"/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sel·lecciona la opció per modificar i ajusta l'horari segons la seva disponibilitat.</a:t>
                      </a:r>
                      <a:endParaRPr lang="ca-ES" sz="1000">
                        <a:effectLst/>
                      </a:endParaRP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prem el botó per guardar els canvis i s'actualitza l'informació del seu perfil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100" u="sng">
                          <a:effectLst/>
                        </a:rPr>
                        <a:t>Surt sense guardar els canvis</a:t>
                      </a:r>
                    </a:p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No s'actualitzen les dades del perfil del cuiner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9082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4567D-25D3-A764-DD0F-3775B7E3C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39787-B9DD-CD1C-7BB6-51740726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Cuiner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4666D0-846A-E386-4C29-C49DBDD6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C7E5104-5DE4-BDA5-81DD-0B8C853C2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274352"/>
              </p:ext>
            </p:extLst>
          </p:nvPr>
        </p:nvGraphicFramePr>
        <p:xfrm>
          <a:off x="2100387" y="3092015"/>
          <a:ext cx="7922524" cy="30954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Acceptar proposta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Eloy Rota Vilchez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Aquest cas d’ús descriu el procés pel qual el cuiner accepta un plat proposat per un client.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Cuiner, Client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050">
                          <a:effectLst/>
                          <a:latin typeface="Neue Haas Grotesk Text Pro"/>
                          <a:ea typeface="Times New Roman" panose="02020603050405020304" pitchFamily="18" charset="0"/>
                        </a:rPr>
                        <a:t>Un client ha d'haver proposat un plat a aquest cuiner en específic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rep la proposta d'un client i la obre per veure'n els detalls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Se li presenta al cuiner l'opció d'acceptar o rebutjar la proposta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S'inicia la comanda de la proposta del client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100" u="sng">
                          <a:effectLst/>
                        </a:rPr>
                        <a:t>El cuiner rebutja la proposta</a:t>
                      </a:r>
                    </a:p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La proposta desapareix tant pel cuiner com pel client i aquest últim rep una notificació informant de que la seva proposta ha sigut rebutjada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097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1B9C-A384-5953-DA81-965DE59F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0C329-D1E1-D8D3-8104-5339773C2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Cuiner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66C151-1865-BA00-E6E5-6B539CA7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73EF3AA-8B0F-BFA0-3895-C87E849BE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400073"/>
              </p:ext>
            </p:extLst>
          </p:nvPr>
        </p:nvGraphicFramePr>
        <p:xfrm>
          <a:off x="2100387" y="3092015"/>
          <a:ext cx="7922524" cy="32631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Publicar menú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Eloy Rota Vilchez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Aquest cas d’ús descriu el procés pel qual un cuiner posa a disponibilitat dels clients un menú de plats que pot preparar als clients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Cuiner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050">
                        <a:effectLst/>
                        <a:latin typeface="Neue Haas Grotesk Text Pro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selecciona la opció de "Nou menú"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introdueix quins dels seus plats estaràn al menú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cuiner te la opció de "Publicar menú"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 menú passa a estar disponible perquè els clients en puguin realitzar comanda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 err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100" u="sng">
                          <a:effectLst/>
                        </a:rPr>
                        <a:t>El cuiner no selecciona "Publicar menú"</a:t>
                      </a:r>
                    </a:p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La informació introduïda del menú fins el moment es perd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890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70CB-6B74-9906-BB06-2C9DFA677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B5093-CFF7-648A-9EC4-3926D5556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Usuari registrat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17592B-C850-8601-840A-896EC311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B81575D-8F8D-2F2E-3D36-BF96748FE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108765"/>
              </p:ext>
            </p:extLst>
          </p:nvPr>
        </p:nvGraphicFramePr>
        <p:xfrm>
          <a:off x="2089949" y="3102453"/>
          <a:ext cx="7922524" cy="34307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Modificar perfil 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Eloy Rota Vilchez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Aquest cas d’ús descriu un usuari pot modificar la informació del seu perfil.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Usuari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050">
                        <a:effectLst/>
                        <a:latin typeface="Neue Haas Grotesk Text Pro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L'usuari selecciona al seu perfil la opció "Modificar perfil"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L'usuari modifica tota la informació que cregui pertinent als camps del seu perfil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L'aplicació li presenta la opció de "Confirmar canvis" a l'usuari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actualitza la informació referent a aquell perfil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100" u="sng">
                          <a:effectLst/>
                        </a:rPr>
                        <a:t>L'usuari no confirma els canvis</a:t>
                      </a:r>
                    </a:p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No s'actualitza la informació del perfil i es perden els canvis que hagués realitzat des de que ha iniciat el procés de modificació.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Aquest flux aplica tant per la informació general de l'usuari com per cadascun dels perfils que tingui creats.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991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349C-3257-7F6D-7A32-BAE211D60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BEA84-AF27-D2A1-41A2-9FE0AC5A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Usuari registrat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7485F8-4603-3C4B-16E7-E86A1E2E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06166FD-F14D-5BDE-EF6B-71E15225E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418650"/>
              </p:ext>
            </p:extLst>
          </p:nvPr>
        </p:nvGraphicFramePr>
        <p:xfrm>
          <a:off x="2089949" y="3102453"/>
          <a:ext cx="7922524" cy="32631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Donar-se de baixa 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Eloy Rota Vilchez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Aquest cas d’ús descriu un usuari pot donar-se de baixa de l'aplicació i eliminar el seu compte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Usuari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Iniciar sessió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L'usuari selecciona en el seu perfil "Donar-se de baixa"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L'aplicació li demana confirmació de l'acció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L'aplicació li demana la contrasenya a l'usuari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S'el·limina tota l'informació relacionada amb l'usuari de l'aplicació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ca-ES" sz="1100" u="sng">
                          <a:effectLst/>
                        </a:rPr>
                        <a:t>L'usuari selecciona l'opció per cancelar l'acció</a:t>
                      </a:r>
                    </a:p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Es cancela el procés per donar-se de baixa i el sistema torna a mostrar el menú principal del perfil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352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FA0B2-D0B8-A20D-1DFC-92C670149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CD8DA1-70DA-5C9F-D40F-5FE4F216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Usuari registrat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2C0F7A-6007-03E7-2919-6DAC30DCA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F014FE9-6AD0-1F10-754C-A728FD319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244870"/>
              </p:ext>
            </p:extLst>
          </p:nvPr>
        </p:nvGraphicFramePr>
        <p:xfrm>
          <a:off x="2089949" y="3102453"/>
          <a:ext cx="7922524" cy="3352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Crear perfil 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15/05/2025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Eloy Rota Vilchez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Aquest cas d’ús descriu com un usuari pot crear-se qualsevol dels 3 tipus de perfils disponibles a l'aplicació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Usuari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050">
                        <a:effectLst/>
                        <a:latin typeface="Neue Haas Grotesk Text Pro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L'usuari selecciona la opció de "Crear perfil"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presenta a l'usuari la opció de crear un perfil Client, Cuiner o Repartidor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endParaRPr lang="ca-ES" sz="1100">
                        <a:effectLst/>
                      </a:endParaRPr>
                    </a:p>
                    <a:p>
                      <a:pPr marL="0" lvl="0" indent="0"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Per a cada tipus de perfil l'usuari haurà d'introduïr les dades corresponents al seu tipus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lang="ca-ES" sz="1100" u="sng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Al moment de registrar-se ja se li hauria de presentar directament al usuari la opció de crear-se un dels tres perfils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329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8B07-0FE7-9F1E-BDCC-C69D5654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6664A-3FB8-55C7-12EC-49B190701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Repartidor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AA3C6F-08C3-9D25-FF73-A9D1E0206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5C4A788-89A9-650B-F120-F11AB37BD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583918"/>
              </p:ext>
            </p:extLst>
          </p:nvPr>
        </p:nvGraphicFramePr>
        <p:xfrm>
          <a:off x="2089949" y="3079007"/>
          <a:ext cx="7922524" cy="312312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Consultar Entregues Disponibles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17/05/2025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Erik Villca Tunari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100" b="0" i="0" u="none" strike="noStrike" noProof="0">
                          <a:effectLst/>
                          <a:latin typeface="Neue Haas Grotesk Text Pro"/>
                        </a:rPr>
                        <a:t>El repartidor consulta les entregues disponibles que pot acceptar dins del sistema.</a:t>
                      </a: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Repartidor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25879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ca-ES" sz="1050" b="0" i="0" u="none" strike="noStrike" noProof="0">
                          <a:effectLst/>
                        </a:rPr>
                        <a:t>El repartidor ha d’haver iniciat sessió</a:t>
                      </a:r>
                      <a:endParaRPr lang="ca-ES"/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lvl="0" indent="-2286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accedeix a l'apartat de gestió d'entregues.</a:t>
                      </a:r>
                    </a:p>
                    <a:p>
                      <a:pPr marL="228600" lvl="0" indent="-2286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mostra les entregues disponibles</a:t>
                      </a:r>
                    </a:p>
                    <a:p>
                      <a:pPr marL="228600" lvl="0" indent="-2286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consulta la informació bàsica de cada entrega</a:t>
                      </a:r>
                    </a:p>
                    <a:p>
                      <a:pPr marL="228600" lvl="0" indent="-2286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por seleccionar una entrega per veure'n més dades o acceptar-la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endParaRPr lang="ca-ES" sz="1100">
                        <a:effectLst/>
                      </a:endParaRPr>
                    </a:p>
                    <a:p>
                      <a:pPr marL="0" lvl="0" indent="0"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Consultar dades de l'entrega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lang="ca-ES" sz="1100" u="sng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Permet al repartidor escollir entregues segons la seva disponibilitat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704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B7C7A-B3E7-FBDE-B58A-54CE80493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4D36D-726A-C03F-2A8C-E0DA1E5B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Repartidor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804BB0-904E-5E24-E6A3-FF5926F9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1A68232-F931-CDAB-2535-933A8235F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071123"/>
              </p:ext>
            </p:extLst>
          </p:nvPr>
        </p:nvGraphicFramePr>
        <p:xfrm>
          <a:off x="2136841" y="2422515"/>
          <a:ext cx="7922524" cy="39038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Entrega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17/05/2025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Erik Villca Tunari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34505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El repartidor realitza el procés d'entrega d'una comanda assignada.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Repartidor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050">
                          <a:effectLst/>
                          <a:latin typeface="Neue Haas Grotesk Text Pro"/>
                          <a:ea typeface="Times New Roman" panose="02020603050405020304" pitchFamily="18" charset="0"/>
                        </a:rPr>
                        <a:t>El repartidor ha d'haver acceptat una entrega i la comanda ha d'estar preparada o en procés de recollir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138022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consulta les dades de l'entrega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recull la comanda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permet fer el seguiment de la ubicació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porta la comanda al client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confirma l'entrega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Seguiment de Ubicació. Actualitzar estat de l'enviament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lang="ca-ES" sz="1100" u="sng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000">
                          <a:effectLst/>
                          <a:latin typeface="Neue Haas Grotesk Text Pro"/>
                          <a:ea typeface="Times New Roman" panose="02020603050405020304" pitchFamily="18" charset="0"/>
                          <a:cs typeface="Times New Roman"/>
                        </a:rPr>
                        <a:t>La comanda queda marcada com a entregada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Al moment de registrar-se ja se li hauria de presentar directament al usuari la opció de crear-se un dels tres perfils 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520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B281-CD12-6C50-CA24-66A7DFA48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93327-6E12-796B-1E66-F33E74A8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Repartidor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3D6348-C771-879D-08CC-B7756BF4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DD2D509-B5A8-1F72-A7D9-CA7CDEA38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644310"/>
              </p:ext>
            </p:extLst>
          </p:nvPr>
        </p:nvGraphicFramePr>
        <p:xfrm>
          <a:off x="2089949" y="3102453"/>
          <a:ext cx="7922524" cy="30167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Consultar Dades Entrega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17/05/2025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Erik Villca Tunari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El repartidor consulta dades de la entrega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Repartidor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050">
                          <a:effectLst/>
                          <a:latin typeface="Neue Haas Grotesk Text Pro"/>
                          <a:ea typeface="Times New Roman" panose="02020603050405020304" pitchFamily="18" charset="0"/>
                        </a:rPr>
                        <a:t>El repartidor ha d'haver iniciat sessió i ha de tenir accés a una entrega disponible o assignada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selecciona una entrega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mostra les dades de la comanda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mostra l'adreça de recollida i d'entrega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mostra l'estat actual de l'enviament</a:t>
                      </a:r>
                    </a:p>
                    <a:p>
                      <a:pPr marL="0" lvl="0" indent="0"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lang="ca-ES" sz="1100" u="sng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000">
                          <a:effectLst/>
                          <a:latin typeface="Neue Haas Grotesk Text Pro"/>
                          <a:ea typeface="Calibri"/>
                          <a:cs typeface="Times New Roman"/>
                        </a:rPr>
                        <a:t>El repartidor coneix la informació per fer l'entrega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198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A5F19-63B0-B1A8-8FA3-B7D926E37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6CED1-E4ED-7BD7-6D61-D7388BDB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Repartidor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C18265-6CFA-B4BB-C78C-857DAC3DC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0940403-35D4-1284-95DE-9E8BAD47A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310048"/>
              </p:ext>
            </p:extLst>
          </p:nvPr>
        </p:nvGraphicFramePr>
        <p:xfrm>
          <a:off x="2089949" y="3102453"/>
          <a:ext cx="7922524" cy="26966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Actualitzar Estat Enviament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17/05/2025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Erik Villca Tunari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El repartidor actualitza l'estat de l'enviament durant el procés d'entrega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Repartidor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050">
                          <a:effectLst/>
                          <a:latin typeface="Neue Haas Grotesk Text Pro"/>
                          <a:ea typeface="Times New Roman" panose="02020603050405020304" pitchFamily="18" charset="0"/>
                        </a:rPr>
                        <a:t>El repartidor ha de tenir una entrega assignada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 repartidor accedeix a l'entrega assignada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Selecciona l'opció d'actualitzar  estat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actualitza l'estat i notifica els usuaris implicats</a:t>
                      </a:r>
                    </a:p>
                    <a:p>
                      <a:pPr marL="0" lvl="0" indent="0"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lang="ca-ES" sz="1100" u="sng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000">
                          <a:effectLst/>
                          <a:latin typeface="Neue Haas Grotesk Text Pro"/>
                          <a:ea typeface="Times New Roman" panose="02020603050405020304" pitchFamily="18" charset="0"/>
                        </a:rPr>
                        <a:t>L'estat de l'enviament queda actualitzat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946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291C-E4F3-ABA2-DE02-589D2DCCF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B9EB5-7606-1504-F3D8-4552B5B5C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Repartidor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DEB5AE-12D5-16D0-F165-B19EEA22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2C2B225-9D47-46B7-E2BE-DB74B9157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800522"/>
              </p:ext>
            </p:extLst>
          </p:nvPr>
        </p:nvGraphicFramePr>
        <p:xfrm>
          <a:off x="2089949" y="3102453"/>
          <a:ext cx="7922524" cy="25290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Consultar Historial Entrega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17/05/2025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Erik Villca Tunari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El repartidor consulta l'historial de les entregues que ha realitzat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Repartidor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050">
                          <a:effectLst/>
                          <a:latin typeface="Neue Haas Grotesk Text Pro"/>
                          <a:ea typeface="Times New Roman" panose="02020603050405020304" pitchFamily="18" charset="0"/>
                        </a:rPr>
                        <a:t>El repartidor ha d'haver iniciat sessió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accedeix a l'apartat d'historial d'entregues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mostra la llista d'entregues realitzades</a:t>
                      </a:r>
                    </a:p>
                    <a:p>
                      <a:pPr marL="0" lvl="0" indent="0"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lang="ca-ES" sz="1100" u="sng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000">
                          <a:effectLst/>
                          <a:latin typeface="Neue Haas Grotesk Text Pro"/>
                          <a:ea typeface="Times New Roman" panose="02020603050405020304" pitchFamily="18" charset="0"/>
                        </a:rPr>
                        <a:t>El repartidor visualitza el seu historial d'entregues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828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48992-75A1-D379-28AD-CA970EFB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29510-5A81-AC70-E7B4-A1646BDF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Especificacions: Repartidor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FAAFFC-C4F7-6500-67EE-FC14E013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97668FB-2D66-314A-EC55-CE800D5DC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286916"/>
              </p:ext>
            </p:extLst>
          </p:nvPr>
        </p:nvGraphicFramePr>
        <p:xfrm>
          <a:off x="2089949" y="3102453"/>
          <a:ext cx="7922524" cy="28643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3154">
                  <a:extLst>
                    <a:ext uri="{9D8B030D-6E8A-4147-A177-3AD203B41FA5}">
                      <a16:colId xmlns:a16="http://schemas.microsoft.com/office/drawing/2014/main" val="645709654"/>
                    </a:ext>
                  </a:extLst>
                </a:gridCol>
                <a:gridCol w="2598375">
                  <a:extLst>
                    <a:ext uri="{9D8B030D-6E8A-4147-A177-3AD203B41FA5}">
                      <a16:colId xmlns:a16="http://schemas.microsoft.com/office/drawing/2014/main" val="842417822"/>
                    </a:ext>
                  </a:extLst>
                </a:gridCol>
                <a:gridCol w="992607">
                  <a:extLst>
                    <a:ext uri="{9D8B030D-6E8A-4147-A177-3AD203B41FA5}">
                      <a16:colId xmlns:a16="http://schemas.microsoft.com/office/drawing/2014/main" val="413602257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10058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>
                          <a:effectLst/>
                        </a:rPr>
                        <a:t>CAS D’ÚS: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Gestionar Perfil Repartidor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Versió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1.0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000" b="1" kern="0">
                          <a:effectLst/>
                        </a:rPr>
                        <a:t>Data</a:t>
                      </a:r>
                      <a:endParaRPr lang="ca-ES" sz="1000" b="1" ker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17/05/2025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8071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Autors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Erik Villca Tunari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4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Descripció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100">
                          <a:effectLst/>
                        </a:rPr>
                        <a:t>El repartidor gestiona la información del seu perfil dins del sistema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7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Actors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Repartidor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2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Precondició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ca-ES" sz="1050">
                          <a:effectLst/>
                          <a:latin typeface="Neue Haas Grotesk Text Pro"/>
                          <a:ea typeface="Times New Roman" panose="02020603050405020304" pitchFamily="18" charset="0"/>
                        </a:rPr>
                        <a:t>El repartidor ha d'haver iniciat sessió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24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 principal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entra al perfil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sistema mostra dades actuals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modifica les dades necessàries</a:t>
                      </a:r>
                    </a:p>
                    <a:p>
                      <a:pPr marL="342900" lvl="0" indent="-342900" algn="just">
                        <a:buAutoNum type="arabicPeriod"/>
                      </a:pPr>
                      <a:r>
                        <a:rPr lang="ca-ES" sz="1100">
                          <a:effectLst/>
                        </a:rPr>
                        <a:t>El repartidor desa els canvis</a:t>
                      </a:r>
                    </a:p>
                    <a:p>
                      <a:pPr marL="0" lvl="0" indent="0"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4531"/>
                  </a:ext>
                </a:extLst>
              </a:tr>
              <a:tr h="1820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Subfluxos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endParaRPr lang="ca-ES" sz="1100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72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Fluxos alternatius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 marL="228600" marR="45720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lang="ca-ES" sz="1100" u="sng">
                        <a:effectLst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2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Postcondició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0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El perfil queda actualitzar</a:t>
                      </a: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8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Requeriments no funcionals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901478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Prioritat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a-ES" sz="1100">
                          <a:effectLst/>
                        </a:rPr>
                        <a:t>Normal</a:t>
                      </a: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55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ca-ES" sz="1100" b="1">
                          <a:effectLst/>
                        </a:rPr>
                        <a:t>Comentaris</a:t>
                      </a:r>
                      <a:endParaRPr lang="ca-E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endParaRPr lang="ca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80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500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/>
              <a:t>Pràctiques: Grup 411-05</a:t>
            </a:r>
          </a:p>
          <a:p>
            <a:pPr>
              <a:lnSpc>
                <a:spcPct val="100000"/>
              </a:lnSpc>
            </a:pPr>
            <a:endParaRPr lang="ca-ES" sz="1400"/>
          </a:p>
          <a:p>
            <a:pPr>
              <a:lnSpc>
                <a:spcPct val="100000"/>
              </a:lnSpc>
            </a:pPr>
            <a:r>
              <a:rPr lang="ca-ES" sz="1400"/>
              <a:t>Sprint 03: Especificacions i Diagrama de Classes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BF3923-D9E5-4962-BBB8-690B0ABC4F42}">
  <ds:schemaRefs>
    <ds:schemaRef ds:uri="7b814fa0-4f1b-4d56-8a36-064af1e36e66"/>
    <ds:schemaRef ds:uri="b1fa7ccf-aa4f-4f27-84db-07667d020acb"/>
    <ds:schemaRef ds:uri="http://schemas.microsoft.com/office/2006/metadata/properties"/>
    <ds:schemaRef ds:uri="http://www.w3.org/2000/xmlns/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77A2FCE-FB77-4A2D-98B9-B8BD51BEE8CE}">
  <ds:schemaRefs>
    <ds:schemaRef ds:uri="7b814fa0-4f1b-4d56-8a36-064af1e36e66"/>
    <ds:schemaRef ds:uri="b1fa7ccf-aa4f-4f27-84db-07667d020acb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Pantalla panoràmica</PresentationFormat>
  <Slides>27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Títols de les diapositives</vt:lpstr>
      </vt:variant>
      <vt:variant>
        <vt:i4>27</vt:i4>
      </vt:variant>
    </vt:vector>
  </HeadingPairs>
  <TitlesOfParts>
    <vt:vector size="28" baseType="lpstr">
      <vt:lpstr>AccentBoxVTI</vt:lpstr>
      <vt:lpstr>Enginyeria del Software</vt:lpstr>
      <vt:lpstr>Composició de l’equip </vt:lpstr>
      <vt:lpstr>Tasques fetes al sprint</vt:lpstr>
      <vt:lpstr>Trello y GitHub</vt:lpstr>
      <vt:lpstr>Diagrama Cas d’Ús final</vt:lpstr>
      <vt:lpstr>Especificacions: Usuari no registrat</vt:lpstr>
      <vt:lpstr>Especificacions: Cuiner</vt:lpstr>
      <vt:lpstr>Especificacions: Client</vt:lpstr>
      <vt:lpstr>Especificacions: Repartidor</vt:lpstr>
      <vt:lpstr>Diagrama de clases: Usuari</vt:lpstr>
      <vt:lpstr>Diagrama de clases: Cuiner</vt:lpstr>
      <vt:lpstr>Diagrama de classes: Client</vt:lpstr>
      <vt:lpstr>Diagrama de classes: Repartidor</vt:lpstr>
      <vt:lpstr>Burn-down chart</vt:lpstr>
      <vt:lpstr>Especificacions: Cuiner</vt:lpstr>
      <vt:lpstr>Especificacions: Cuiner</vt:lpstr>
      <vt:lpstr>Especificacions: Cuiner</vt:lpstr>
      <vt:lpstr>Especificacions: Usuari registrat</vt:lpstr>
      <vt:lpstr>Especificacions: Usuari registrat</vt:lpstr>
      <vt:lpstr>Especificacions: Usuari registrat</vt:lpstr>
      <vt:lpstr>Especificacions: Repartidor</vt:lpstr>
      <vt:lpstr>Especificacions: Repartidor</vt:lpstr>
      <vt:lpstr>Especificacions: Repartidor</vt:lpstr>
      <vt:lpstr>Especificacions: Repartidor</vt:lpstr>
      <vt:lpstr>Especificacions: Repartidor</vt:lpstr>
      <vt:lpstr>Especificacions: Repartidor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revision>5</cp:revision>
  <dcterms:created xsi:type="dcterms:W3CDTF">2023-02-10T08:32:17Z</dcterms:created>
  <dcterms:modified xsi:type="dcterms:W3CDTF">2026-05-31T08:57:54Z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